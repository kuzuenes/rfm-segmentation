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4" r:id="rId1"/>
  </p:sldMasterIdLst>
  <p:notesMasterIdLst>
    <p:notesMasterId r:id="rId3"/>
  </p:notesMasterIdLst>
  <p:sldIdLst>
    <p:sldId id="256" r:id="rId2"/>
  </p:sldIdLst>
  <p:sldSz cx="21386800" cy="30243463"/>
  <p:notesSz cx="9144000" cy="6858000"/>
  <p:defaultTextStyle>
    <a:defPPr>
      <a:defRPr lang="en-US"/>
    </a:defPPr>
    <a:lvl1pPr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1473200" indent="-1016000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2947988" indent="-2033588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4422775" indent="-3051175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5897563" indent="-4068763" algn="l" defTabSz="2947988" rtl="0" eaLnBrk="0" fontAlgn="base" hangingPunct="0">
      <a:spcBef>
        <a:spcPct val="0"/>
      </a:spcBef>
      <a:spcAft>
        <a:spcPct val="0"/>
      </a:spcAft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5800"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526">
          <p15:clr>
            <a:srgbClr val="A4A3A4"/>
          </p15:clr>
        </p15:guide>
        <p15:guide id="2" pos="6736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865"/>
    <p:restoredTop sz="90205" autoAdjust="0"/>
  </p:normalViewPr>
  <p:slideViewPr>
    <p:cSldViewPr>
      <p:cViewPr>
        <p:scale>
          <a:sx n="43" d="100"/>
          <a:sy n="43" d="100"/>
        </p:scale>
        <p:origin x="2496" y="-312"/>
      </p:cViewPr>
      <p:guideLst>
        <p:guide orient="horz" pos="9526"/>
        <p:guide pos="6736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93" d="100"/>
          <a:sy n="93" d="100"/>
        </p:scale>
        <p:origin x="-2130" y="-96"/>
      </p:cViewPr>
      <p:guideLst>
        <p:guide orient="horz" pos="2160"/>
        <p:guide pos="288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AA6C78C-BD59-AB4F-9F0D-40DCFF748D1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F59109-7462-2446-83AF-A8EB10548B0B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BBFFADD5-BF2D-0840-98C9-F1C3034CEC02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8889E44-9318-E744-89D2-A90E7A1D776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662363" y="514350"/>
            <a:ext cx="1819275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F05DB38-86D5-7541-8FA4-35865DE2A3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1C264-661D-6F42-B745-76B2FB7669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CAD78-89F7-2E43-94AF-271F20E595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29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fld id="{A0172AF7-C0B2-4948-AA25-BF1103F67032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1pPr>
    <a:lvl2pPr marL="1473200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2pPr>
    <a:lvl3pPr marL="2947988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3pPr>
    <a:lvl4pPr marL="4422775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4pPr>
    <a:lvl5pPr marL="5897563" algn="l" defTabSz="2947988" rtl="0" eaLnBrk="0" fontAlgn="base" hangingPunct="0">
      <a:spcBef>
        <a:spcPct val="30000"/>
      </a:spcBef>
      <a:spcAft>
        <a:spcPct val="0"/>
      </a:spcAft>
      <a:defRPr sz="3800" kern="1200">
        <a:solidFill>
          <a:schemeClr val="tx1"/>
        </a:solidFill>
        <a:latin typeface="+mn-lt"/>
        <a:ea typeface="+mn-ea"/>
        <a:cs typeface="+mn-cs"/>
      </a:defRPr>
    </a:lvl5pPr>
    <a:lvl6pPr marL="7372738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6pPr>
    <a:lvl7pPr marL="8847288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7pPr>
    <a:lvl8pPr marL="10321834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8pPr>
    <a:lvl9pPr marL="11796380" algn="l" defTabSz="2949096" rtl="0" eaLnBrk="1" latinLnBrk="0" hangingPunct="1">
      <a:defRPr sz="3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Slayt Görüntüsü Yer Tutucusu 1">
            <a:extLst>
              <a:ext uri="{FF2B5EF4-FFF2-40B4-BE49-F238E27FC236}">
                <a16:creationId xmlns:a16="http://schemas.microsoft.com/office/drawing/2014/main" id="{BB19B2E4-F350-A0B4-5007-8C5A1D2EEC6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2" name="Not Yer Tutucusu 2">
            <a:extLst>
              <a:ext uri="{FF2B5EF4-FFF2-40B4-BE49-F238E27FC236}">
                <a16:creationId xmlns:a16="http://schemas.microsoft.com/office/drawing/2014/main" id="{9C0AAEC4-44AF-D8A0-F3B8-49FBC8D6A26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tr-TR" altLang="en-US"/>
          </a:p>
        </p:txBody>
      </p:sp>
      <p:sp>
        <p:nvSpPr>
          <p:cNvPr id="15363" name="Slayt Numarası Yer Tutucusu 3">
            <a:extLst>
              <a:ext uri="{FF2B5EF4-FFF2-40B4-BE49-F238E27FC236}">
                <a16:creationId xmlns:a16="http://schemas.microsoft.com/office/drawing/2014/main" id="{B1261931-EA9C-3B19-C1CC-D33608B6E3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249BD9CA-AE42-E747-AA40-66B3A3AC8D03}" type="slidenum">
              <a:rPr lang="en-US" altLang="tr-TR"/>
              <a:pPr/>
              <a:t>1</a:t>
            </a:fld>
            <a:endParaRPr lang="en-US" alt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4010" y="9395077"/>
            <a:ext cx="18178780" cy="648274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08020" y="17137961"/>
            <a:ext cx="14970760" cy="7728886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1472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294507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441761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58901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73626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88352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030778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178031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003DAA-3C0B-153A-FBC2-41696A9CB2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A09B549-C5FE-5545-970C-8056540AD8CA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0537F-8276-E684-1255-15962C2E3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DE9B6-382A-A33B-1661-6562174DD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3C4C61-A341-524F-BED6-D0EF459CEE27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04643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96B0E7-8BB9-2387-C2F2-B8CF10C5D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1E1DEA-22DA-9944-AB68-EF045A876798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FA647-4472-72A0-ADCF-D162A28ED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2795C-7084-F50F-649A-08EAC4569B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AAFE19D-D168-314A-A092-2A18FBD6BD1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20190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9410" y="19434228"/>
            <a:ext cx="18178780" cy="6006688"/>
          </a:xfrm>
        </p:spPr>
        <p:txBody>
          <a:bodyPr anchor="t"/>
          <a:lstStyle>
            <a:lvl1pPr algn="l">
              <a:defRPr sz="129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89410" y="12818479"/>
            <a:ext cx="18178780" cy="6615755"/>
          </a:xfrm>
        </p:spPr>
        <p:txBody>
          <a:bodyPr anchor="b"/>
          <a:lstStyle>
            <a:lvl1pPr marL="0" indent="0">
              <a:buNone/>
              <a:defRPr sz="6400">
                <a:solidFill>
                  <a:schemeClr val="tx1">
                    <a:tint val="75000"/>
                  </a:schemeClr>
                </a:solidFill>
              </a:defRPr>
            </a:lvl1pPr>
            <a:lvl2pPr marL="1472540" indent="0">
              <a:buNone/>
              <a:defRPr sz="5800">
                <a:solidFill>
                  <a:schemeClr val="tx1">
                    <a:tint val="75000"/>
                  </a:schemeClr>
                </a:solidFill>
              </a:defRPr>
            </a:lvl2pPr>
            <a:lvl3pPr marL="2945079" indent="0">
              <a:buNone/>
              <a:defRPr sz="5100">
                <a:solidFill>
                  <a:schemeClr val="tx1">
                    <a:tint val="75000"/>
                  </a:schemeClr>
                </a:solidFill>
              </a:defRPr>
            </a:lvl3pPr>
            <a:lvl4pPr marL="4417616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4pPr>
            <a:lvl5pPr marL="5890159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5pPr>
            <a:lvl6pPr marL="736269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6pPr>
            <a:lvl7pPr marL="883523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7pPr>
            <a:lvl8pPr marL="10307781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8pPr>
            <a:lvl9pPr marL="11780318" indent="0">
              <a:buNone/>
              <a:defRPr sz="4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482830-BF76-DFF8-2D00-B7E0EA7F2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4CF6F-0C15-3C48-BBBE-160CF3011D9C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12909D-74C3-431A-DE0E-38C698EEF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1264F-4178-59A8-C8BD-A7E418004D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77EE15-1628-BE44-93DB-F4B051DA80F0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874131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92730" y="33869879"/>
            <a:ext cx="40241343" cy="958059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4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090520" y="33869879"/>
            <a:ext cx="40241343" cy="95805972"/>
          </a:xfrm>
        </p:spPr>
        <p:txBody>
          <a:bodyPr/>
          <a:lstStyle>
            <a:lvl1pPr>
              <a:defRPr sz="9000"/>
            </a:lvl1pPr>
            <a:lvl2pPr>
              <a:defRPr sz="7700"/>
            </a:lvl2pPr>
            <a:lvl3pPr>
              <a:defRPr sz="6400"/>
            </a:lvl3pPr>
            <a:lvl4pPr>
              <a:defRPr sz="5800"/>
            </a:lvl4pPr>
            <a:lvl5pPr>
              <a:defRPr sz="5800"/>
            </a:lvl5pPr>
            <a:lvl6pPr>
              <a:defRPr sz="5800"/>
            </a:lvl6pPr>
            <a:lvl7pPr>
              <a:defRPr sz="5800"/>
            </a:lvl7pPr>
            <a:lvl8pPr>
              <a:defRPr sz="5800"/>
            </a:lvl8pPr>
            <a:lvl9pPr>
              <a:defRPr sz="5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7EC76D6-47A3-912C-416B-D1F2DA0E8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A205573-BCD7-3940-9B93-0E65DF34CB15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6062A18-4AB3-0AA8-CA9D-65394B603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7C09465-A149-083D-7DA8-B7C9A23ED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CCA3FE-FBFE-E241-87FA-FB6DB74716E8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91519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40" y="1211140"/>
            <a:ext cx="19248120" cy="504057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341" y="6769777"/>
            <a:ext cx="9449551" cy="2821321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2540" indent="0">
              <a:buNone/>
              <a:defRPr sz="6400" b="1"/>
            </a:lvl2pPr>
            <a:lvl3pPr marL="2945079" indent="0">
              <a:buNone/>
              <a:defRPr sz="5800" b="1"/>
            </a:lvl3pPr>
            <a:lvl4pPr marL="4417616" indent="0">
              <a:buNone/>
              <a:defRPr sz="5100" b="1"/>
            </a:lvl4pPr>
            <a:lvl5pPr marL="5890159" indent="0">
              <a:buNone/>
              <a:defRPr sz="5100" b="1"/>
            </a:lvl5pPr>
            <a:lvl6pPr marL="7362698" indent="0">
              <a:buNone/>
              <a:defRPr sz="5100" b="1"/>
            </a:lvl6pPr>
            <a:lvl7pPr marL="8835238" indent="0">
              <a:buNone/>
              <a:defRPr sz="5100" b="1"/>
            </a:lvl7pPr>
            <a:lvl8pPr marL="10307781" indent="0">
              <a:buNone/>
              <a:defRPr sz="5100" b="1"/>
            </a:lvl8pPr>
            <a:lvl9pPr marL="11780318" indent="0">
              <a:buNone/>
              <a:defRPr sz="5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341" y="9591100"/>
            <a:ext cx="9449551" cy="17424998"/>
          </a:xfrm>
        </p:spPr>
        <p:txBody>
          <a:bodyPr/>
          <a:lstStyle>
            <a:lvl1pPr>
              <a:defRPr sz="7700"/>
            </a:lvl1pPr>
            <a:lvl2pPr>
              <a:defRPr sz="6400"/>
            </a:lvl2pPr>
            <a:lvl3pPr>
              <a:defRPr sz="5800"/>
            </a:lvl3pPr>
            <a:lvl4pPr>
              <a:defRPr sz="5100"/>
            </a:lvl4pPr>
            <a:lvl5pPr>
              <a:defRPr sz="5100"/>
            </a:lvl5pPr>
            <a:lvl6pPr>
              <a:defRPr sz="5100"/>
            </a:lvl6pPr>
            <a:lvl7pPr>
              <a:defRPr sz="5100"/>
            </a:lvl7pPr>
            <a:lvl8pPr>
              <a:defRPr sz="5100"/>
            </a:lvl8pPr>
            <a:lvl9pPr>
              <a:defRPr sz="5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64214" y="6769777"/>
            <a:ext cx="9453263" cy="2821321"/>
          </a:xfrm>
        </p:spPr>
        <p:txBody>
          <a:bodyPr anchor="b"/>
          <a:lstStyle>
            <a:lvl1pPr marL="0" indent="0">
              <a:buNone/>
              <a:defRPr sz="7700" b="1"/>
            </a:lvl1pPr>
            <a:lvl2pPr marL="1472540" indent="0">
              <a:buNone/>
              <a:defRPr sz="6400" b="1"/>
            </a:lvl2pPr>
            <a:lvl3pPr marL="2945079" indent="0">
              <a:buNone/>
              <a:defRPr sz="5800" b="1"/>
            </a:lvl3pPr>
            <a:lvl4pPr marL="4417616" indent="0">
              <a:buNone/>
              <a:defRPr sz="5100" b="1"/>
            </a:lvl4pPr>
            <a:lvl5pPr marL="5890159" indent="0">
              <a:buNone/>
              <a:defRPr sz="5100" b="1"/>
            </a:lvl5pPr>
            <a:lvl6pPr marL="7362698" indent="0">
              <a:buNone/>
              <a:defRPr sz="5100" b="1"/>
            </a:lvl6pPr>
            <a:lvl7pPr marL="8835238" indent="0">
              <a:buNone/>
              <a:defRPr sz="5100" b="1"/>
            </a:lvl7pPr>
            <a:lvl8pPr marL="10307781" indent="0">
              <a:buNone/>
              <a:defRPr sz="5100" b="1"/>
            </a:lvl8pPr>
            <a:lvl9pPr marL="11780318" indent="0">
              <a:buNone/>
              <a:defRPr sz="5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64214" y="9591100"/>
            <a:ext cx="9453263" cy="17424998"/>
          </a:xfrm>
        </p:spPr>
        <p:txBody>
          <a:bodyPr/>
          <a:lstStyle>
            <a:lvl1pPr>
              <a:defRPr sz="7700"/>
            </a:lvl1pPr>
            <a:lvl2pPr>
              <a:defRPr sz="6400"/>
            </a:lvl2pPr>
            <a:lvl3pPr>
              <a:defRPr sz="5800"/>
            </a:lvl3pPr>
            <a:lvl4pPr>
              <a:defRPr sz="5100"/>
            </a:lvl4pPr>
            <a:lvl5pPr>
              <a:defRPr sz="5100"/>
            </a:lvl5pPr>
            <a:lvl6pPr>
              <a:defRPr sz="5100"/>
            </a:lvl6pPr>
            <a:lvl7pPr>
              <a:defRPr sz="5100"/>
            </a:lvl7pPr>
            <a:lvl8pPr>
              <a:defRPr sz="5100"/>
            </a:lvl8pPr>
            <a:lvl9pPr>
              <a:defRPr sz="51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99E66E3B-499A-DEF8-7499-22A96DBFC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FD3E7-5922-464F-9274-69AB129E9CA9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F3F1F348-920C-2E82-67B0-9B86F793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04F4E53-BAE6-FA0C-D093-582AAE857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A82006-51D2-8D42-8EFB-C3A24BE95EBE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2360363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86D6ACB3-D42F-5E9F-A6C8-CBB3B4FF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31F9C3-652C-A842-A154-D9220545A43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B91942D-7069-EC6C-6198-B8A16C08AC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FADB47B-1765-481B-9583-42E0C8D0ED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F87F39-BAF0-A34B-A9B1-2E15008B425A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36164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7CE29D8-9CC1-6090-26DE-BFCFEA614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0D3AD1-B783-BA44-A40D-CA86B5BC3C1F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F8423E1-2BD1-37E7-FAF9-6F97E195A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8632572-74D4-E5E9-F149-1F849C9A6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BD03184-A6DB-2D4C-83A0-9CA000C8961D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090316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9356" y="1204139"/>
            <a:ext cx="7036110" cy="5124586"/>
          </a:xfrm>
        </p:spPr>
        <p:txBody>
          <a:bodyPr anchor="b"/>
          <a:lstStyle>
            <a:lvl1pPr algn="l">
              <a:defRPr sz="6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61646" y="1204147"/>
            <a:ext cx="11955815" cy="25811957"/>
          </a:xfrm>
        </p:spPr>
        <p:txBody>
          <a:bodyPr/>
          <a:lstStyle>
            <a:lvl1pPr>
              <a:defRPr sz="10400"/>
            </a:lvl1pPr>
            <a:lvl2pPr>
              <a:defRPr sz="9000"/>
            </a:lvl2pPr>
            <a:lvl3pPr>
              <a:defRPr sz="7700"/>
            </a:lvl3pPr>
            <a:lvl4pPr>
              <a:defRPr sz="6400"/>
            </a:lvl4pPr>
            <a:lvl5pPr>
              <a:defRPr sz="6400"/>
            </a:lvl5pPr>
            <a:lvl6pPr>
              <a:defRPr sz="6400"/>
            </a:lvl6pPr>
            <a:lvl7pPr>
              <a:defRPr sz="6400"/>
            </a:lvl7pPr>
            <a:lvl8pPr>
              <a:defRPr sz="6400"/>
            </a:lvl8pPr>
            <a:lvl9pPr>
              <a:defRPr sz="6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69356" y="6328733"/>
            <a:ext cx="7036110" cy="20687371"/>
          </a:xfrm>
        </p:spPr>
        <p:txBody>
          <a:bodyPr/>
          <a:lstStyle>
            <a:lvl1pPr marL="0" indent="0">
              <a:buNone/>
              <a:defRPr sz="4500"/>
            </a:lvl1pPr>
            <a:lvl2pPr marL="1472540" indent="0">
              <a:buNone/>
              <a:defRPr sz="3800"/>
            </a:lvl2pPr>
            <a:lvl3pPr marL="2945079" indent="0">
              <a:buNone/>
              <a:defRPr sz="3300"/>
            </a:lvl3pPr>
            <a:lvl4pPr marL="4417616" indent="0">
              <a:buNone/>
              <a:defRPr sz="2900"/>
            </a:lvl4pPr>
            <a:lvl5pPr marL="5890159" indent="0">
              <a:buNone/>
              <a:defRPr sz="2900"/>
            </a:lvl5pPr>
            <a:lvl6pPr marL="7362698" indent="0">
              <a:buNone/>
              <a:defRPr sz="2900"/>
            </a:lvl6pPr>
            <a:lvl7pPr marL="8835238" indent="0">
              <a:buNone/>
              <a:defRPr sz="2900"/>
            </a:lvl7pPr>
            <a:lvl8pPr marL="10307781" indent="0">
              <a:buNone/>
              <a:defRPr sz="2900"/>
            </a:lvl8pPr>
            <a:lvl9pPr marL="11780318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0E1E9A88-C1DA-2D07-2D25-43DD85CBF9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4F60C0-B43C-D140-8069-46E4619D8C2E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01F9F2B-F916-F85C-D22B-1BB9ED964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DDA1439-E49F-73FC-4817-D765183194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AA44C58-1ECF-F44D-A4F9-F04308D03B9C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18332826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963" y="21170425"/>
            <a:ext cx="12832080" cy="2499288"/>
          </a:xfrm>
        </p:spPr>
        <p:txBody>
          <a:bodyPr anchor="b"/>
          <a:lstStyle>
            <a:lvl1pPr algn="l">
              <a:defRPr sz="6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191963" y="2702309"/>
            <a:ext cx="12832080" cy="18146078"/>
          </a:xfrm>
        </p:spPr>
        <p:txBody>
          <a:bodyPr rtlCol="0">
            <a:normAutofit/>
          </a:bodyPr>
          <a:lstStyle>
            <a:lvl1pPr marL="0" indent="0">
              <a:buNone/>
              <a:defRPr sz="10400"/>
            </a:lvl1pPr>
            <a:lvl2pPr marL="1472540" indent="0">
              <a:buNone/>
              <a:defRPr sz="9000"/>
            </a:lvl2pPr>
            <a:lvl3pPr marL="2945079" indent="0">
              <a:buNone/>
              <a:defRPr sz="7700"/>
            </a:lvl3pPr>
            <a:lvl4pPr marL="4417616" indent="0">
              <a:buNone/>
              <a:defRPr sz="6400"/>
            </a:lvl4pPr>
            <a:lvl5pPr marL="5890159" indent="0">
              <a:buNone/>
              <a:defRPr sz="6400"/>
            </a:lvl5pPr>
            <a:lvl6pPr marL="7362698" indent="0">
              <a:buNone/>
              <a:defRPr sz="6400"/>
            </a:lvl6pPr>
            <a:lvl7pPr marL="8835238" indent="0">
              <a:buNone/>
              <a:defRPr sz="6400"/>
            </a:lvl7pPr>
            <a:lvl8pPr marL="10307781" indent="0">
              <a:buNone/>
              <a:defRPr sz="6400"/>
            </a:lvl8pPr>
            <a:lvl9pPr marL="11780318" indent="0">
              <a:buNone/>
              <a:defRPr sz="64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963" y="23669713"/>
            <a:ext cx="12832080" cy="3549404"/>
          </a:xfrm>
        </p:spPr>
        <p:txBody>
          <a:bodyPr/>
          <a:lstStyle>
            <a:lvl1pPr marL="0" indent="0">
              <a:buNone/>
              <a:defRPr sz="4500"/>
            </a:lvl1pPr>
            <a:lvl2pPr marL="1472540" indent="0">
              <a:buNone/>
              <a:defRPr sz="3800"/>
            </a:lvl2pPr>
            <a:lvl3pPr marL="2945079" indent="0">
              <a:buNone/>
              <a:defRPr sz="3300"/>
            </a:lvl3pPr>
            <a:lvl4pPr marL="4417616" indent="0">
              <a:buNone/>
              <a:defRPr sz="2900"/>
            </a:lvl4pPr>
            <a:lvl5pPr marL="5890159" indent="0">
              <a:buNone/>
              <a:defRPr sz="2900"/>
            </a:lvl5pPr>
            <a:lvl6pPr marL="7362698" indent="0">
              <a:buNone/>
              <a:defRPr sz="2900"/>
            </a:lvl6pPr>
            <a:lvl7pPr marL="8835238" indent="0">
              <a:buNone/>
              <a:defRPr sz="2900"/>
            </a:lvl7pPr>
            <a:lvl8pPr marL="10307781" indent="0">
              <a:buNone/>
              <a:defRPr sz="2900"/>
            </a:lvl8pPr>
            <a:lvl9pPr marL="11780318" indent="0">
              <a:buNone/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5807B0A6-0242-1A76-32BF-18898E411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66CF22-28A9-624B-B9C2-EEFA789659B1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6342D9A-1A2E-1E30-3C11-64FC60CD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597A821-0D76-9587-551C-C8765EDD7D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ECF955F-093B-1747-B71A-36793BE385F3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488027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7F9DD7-402A-EDA1-9351-B0435064D4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C54377-5E62-5945-AA8C-F344DAF477A4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4C2CF0-7A2B-2472-7B97-BEE10524E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62B2D-59C1-E212-1293-69A27B203F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C03A38-E79F-4649-867D-177E8C9414E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3352703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22065" y="5810667"/>
            <a:ext cx="20209782" cy="12386518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92714" y="5810667"/>
            <a:ext cx="60272905" cy="12386518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D7810-96A6-48D8-EDED-9AAD12F69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C39D5E-0967-4044-9238-7F03A1619DC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9682F-84F9-0466-97F3-56CAB6FB0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24693E-0BBC-AF0D-DE10-F111F634A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34BA005-095A-8540-A5C1-1826F0B691CF}" type="slidenum">
              <a:rPr lang="en-US" altLang="tr-TR"/>
              <a:pPr/>
              <a:t>‹#›</a:t>
            </a:fld>
            <a:endParaRPr lang="en-US" altLang="tr-TR"/>
          </a:p>
        </p:txBody>
      </p:sp>
    </p:spTree>
    <p:extLst>
      <p:ext uri="{BB962C8B-B14F-4D97-AF65-F5344CB8AC3E}">
        <p14:creationId xmlns:p14="http://schemas.microsoft.com/office/powerpoint/2010/main" val="9144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42365E8E-D323-3113-CA23-B2929BB152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069975" y="1211263"/>
            <a:ext cx="19246850" cy="5040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4506" tIns="147263" rIns="294506" bIns="147263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94C9241-C848-2434-1B21-145DB9E3720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069975" y="7056438"/>
            <a:ext cx="19246850" cy="1995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294506" tIns="147263" rIns="294506" bIns="14726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tr-TR"/>
              <a:t>Click to edit Master text styles</a:t>
            </a:r>
          </a:p>
          <a:p>
            <a:pPr lvl="1"/>
            <a:r>
              <a:rPr lang="en-US" altLang="tr-TR"/>
              <a:t>Second level</a:t>
            </a:r>
          </a:p>
          <a:p>
            <a:pPr lvl="2"/>
            <a:r>
              <a:rPr lang="en-US" altLang="tr-TR"/>
              <a:t>Third level</a:t>
            </a:r>
          </a:p>
          <a:p>
            <a:pPr lvl="3"/>
            <a:r>
              <a:rPr lang="en-US" altLang="tr-TR"/>
              <a:t>Fourth level</a:t>
            </a:r>
          </a:p>
          <a:p>
            <a:pPr lvl="4"/>
            <a:r>
              <a:rPr lang="en-US" altLang="tr-TR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752534-AA76-054C-AA09-82937D69D4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69975" y="28030488"/>
            <a:ext cx="4989513" cy="1611312"/>
          </a:xfrm>
          <a:prstGeom prst="rect">
            <a:avLst/>
          </a:prstGeom>
        </p:spPr>
        <p:txBody>
          <a:bodyPr vert="horz" lIns="294506" tIns="147263" rIns="294506" bIns="147263" rtlCol="0" anchor="ctr"/>
          <a:lstStyle>
            <a:lvl1pPr algn="l" defTabSz="2949096" eaLnBrk="1" fontAlgn="auto" hangingPunct="1">
              <a:spcBef>
                <a:spcPts val="0"/>
              </a:spcBef>
              <a:spcAft>
                <a:spcPts val="0"/>
              </a:spcAft>
              <a:defRPr sz="38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9EB0865-6115-3E4B-9825-2C4EAFA19BED}" type="datetimeFigureOut">
              <a:rPr lang="en-US"/>
              <a:pPr>
                <a:defRPr/>
              </a:pPr>
              <a:t>5/14/26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F40E3E-A448-6D42-9476-AE1924FC39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07263" y="28030488"/>
            <a:ext cx="6772275" cy="1611312"/>
          </a:xfrm>
          <a:prstGeom prst="rect">
            <a:avLst/>
          </a:prstGeom>
        </p:spPr>
        <p:txBody>
          <a:bodyPr vert="horz" lIns="294506" tIns="147263" rIns="294506" bIns="147263" rtlCol="0" anchor="ctr"/>
          <a:lstStyle>
            <a:lvl1pPr algn="ctr" defTabSz="2949096" eaLnBrk="1" fontAlgn="auto" hangingPunct="1">
              <a:spcBef>
                <a:spcPts val="0"/>
              </a:spcBef>
              <a:spcAft>
                <a:spcPts val="0"/>
              </a:spcAft>
              <a:defRPr sz="38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99DAE-1B74-3044-BD38-65EADEDE4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27313" y="28030488"/>
            <a:ext cx="4989512" cy="1611312"/>
          </a:xfrm>
          <a:prstGeom prst="rect">
            <a:avLst/>
          </a:prstGeom>
        </p:spPr>
        <p:txBody>
          <a:bodyPr vert="horz" wrap="square" lIns="294506" tIns="147263" rIns="294506" bIns="147263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3800">
                <a:solidFill>
                  <a:srgbClr val="898989"/>
                </a:solidFill>
              </a:defRPr>
            </a:lvl1pPr>
          </a:lstStyle>
          <a:p>
            <a:fld id="{654AB303-DFBF-7442-975C-28F72CB278DE}" type="slidenum">
              <a:rPr lang="en-US" altLang="tr-TR"/>
              <a:pPr/>
              <a:t>‹#›</a:t>
            </a:fld>
            <a:endParaRPr lang="en-US" alt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xStyles>
    <p:titleStyle>
      <a:lvl1pPr algn="ctr" defTabSz="2944813" rtl="0" eaLnBrk="0" fontAlgn="base" hangingPunct="0">
        <a:spcBef>
          <a:spcPct val="0"/>
        </a:spcBef>
        <a:spcAft>
          <a:spcPct val="0"/>
        </a:spcAft>
        <a:defRPr sz="142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2pPr>
      <a:lvl3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3pPr>
      <a:lvl4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4pPr>
      <a:lvl5pPr algn="ctr" defTabSz="2944813" rtl="0" eaLnBrk="0" fontAlgn="base" hangingPunct="0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5pPr>
      <a:lvl6pPr marL="4572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6pPr>
      <a:lvl7pPr marL="9144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7pPr>
      <a:lvl8pPr marL="13716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8pPr>
      <a:lvl9pPr marL="1828800" algn="ctr" defTabSz="2944813" rtl="0" fontAlgn="base">
        <a:spcBef>
          <a:spcPct val="0"/>
        </a:spcBef>
        <a:spcAft>
          <a:spcPct val="0"/>
        </a:spcAft>
        <a:defRPr sz="14200">
          <a:solidFill>
            <a:schemeClr val="tx1"/>
          </a:solidFill>
          <a:latin typeface="Calibri" pitchFamily="34" charset="0"/>
        </a:defRPr>
      </a:lvl9pPr>
    </p:titleStyle>
    <p:bodyStyle>
      <a:lvl1pPr marL="1103313" indent="-11033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0400" kern="1200">
          <a:solidFill>
            <a:schemeClr val="tx1"/>
          </a:solidFill>
          <a:latin typeface="+mn-lt"/>
          <a:ea typeface="+mn-ea"/>
          <a:cs typeface="+mn-cs"/>
        </a:defRPr>
      </a:lvl1pPr>
      <a:lvl2pPr marL="2392363" indent="-91916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9000" kern="1200">
          <a:solidFill>
            <a:schemeClr val="tx1"/>
          </a:solidFill>
          <a:latin typeface="+mn-lt"/>
          <a:ea typeface="+mn-ea"/>
          <a:cs typeface="+mn-cs"/>
        </a:defRPr>
      </a:lvl2pPr>
      <a:lvl3pPr marL="36798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7700" kern="1200">
          <a:solidFill>
            <a:schemeClr val="tx1"/>
          </a:solidFill>
          <a:latin typeface="+mn-lt"/>
          <a:ea typeface="+mn-ea"/>
          <a:cs typeface="+mn-cs"/>
        </a:defRPr>
      </a:lvl3pPr>
      <a:lvl4pPr marL="51530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6400" kern="1200">
          <a:solidFill>
            <a:schemeClr val="tx1"/>
          </a:solidFill>
          <a:latin typeface="+mn-lt"/>
          <a:ea typeface="+mn-ea"/>
          <a:cs typeface="+mn-cs"/>
        </a:defRPr>
      </a:lvl4pPr>
      <a:lvl5pPr marL="6626225" indent="-735013" algn="l" defTabSz="2944813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6400" kern="1200">
          <a:solidFill>
            <a:schemeClr val="tx1"/>
          </a:solidFill>
          <a:latin typeface="+mn-lt"/>
          <a:ea typeface="+mn-ea"/>
          <a:cs typeface="+mn-cs"/>
        </a:defRPr>
      </a:lvl5pPr>
      <a:lvl6pPr marL="8098970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6pPr>
      <a:lvl7pPr marL="9571510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7pPr>
      <a:lvl8pPr marL="11044049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8pPr>
      <a:lvl9pPr marL="12516589" indent="-736275" algn="l" defTabSz="2945079" rtl="0" eaLnBrk="1" latinLnBrk="0" hangingPunct="1">
        <a:spcBef>
          <a:spcPct val="20000"/>
        </a:spcBef>
        <a:buFont typeface="Arial" pitchFamily="34" charset="0"/>
        <a:buChar char="•"/>
        <a:defRPr sz="6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1pPr>
      <a:lvl2pPr marL="1472540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2pPr>
      <a:lvl3pPr marL="2945079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3pPr>
      <a:lvl4pPr marL="4417616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4pPr>
      <a:lvl5pPr marL="5890159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5pPr>
      <a:lvl6pPr marL="736269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6pPr>
      <a:lvl7pPr marL="883523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7pPr>
      <a:lvl8pPr marL="10307781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8pPr>
      <a:lvl9pPr marL="11780318" algn="l" defTabSz="2945079" rtl="0" eaLnBrk="1" latinLnBrk="0" hangingPunct="1">
        <a:defRPr sz="5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332C17B-6A09-A547-A62E-E12F4EAA1C98}"/>
              </a:ext>
            </a:extLst>
          </p:cNvPr>
          <p:cNvCxnSpPr/>
          <p:nvPr/>
        </p:nvCxnSpPr>
        <p:spPr>
          <a:xfrm flipV="1">
            <a:off x="0" y="4008438"/>
            <a:ext cx="21386800" cy="0"/>
          </a:xfrm>
          <a:prstGeom prst="line">
            <a:avLst/>
          </a:prstGeom>
          <a:ln w="161925">
            <a:solidFill>
              <a:schemeClr val="tx2"/>
            </a:solidFill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338" name="TextBox 21">
            <a:extLst>
              <a:ext uri="{FF2B5EF4-FFF2-40B4-BE49-F238E27FC236}">
                <a16:creationId xmlns:a16="http://schemas.microsoft.com/office/drawing/2014/main" id="{9A7326B9-5B45-D38E-5CB4-FD811EA253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8550" y="1492250"/>
            <a:ext cx="16649700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6184" tIns="33092" rIns="66184" bIns="3309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tr-TR" sz="6000" b="1" dirty="0" err="1">
                <a:solidFill>
                  <a:srgbClr val="002060"/>
                </a:solidFill>
              </a:rPr>
              <a:t>Bulanık</a:t>
            </a:r>
            <a:r>
              <a:rPr lang="en-US" altLang="tr-TR" sz="6000" b="1" dirty="0">
                <a:solidFill>
                  <a:srgbClr val="002060"/>
                </a:solidFill>
              </a:rPr>
              <a:t> K-means </a:t>
            </a:r>
            <a:r>
              <a:rPr lang="en-US" altLang="tr-TR" sz="6000" b="1" dirty="0" err="1">
                <a:solidFill>
                  <a:srgbClr val="002060"/>
                </a:solidFill>
              </a:rPr>
              <a:t>ile</a:t>
            </a:r>
            <a:r>
              <a:rPr lang="en-US" altLang="tr-TR" sz="6000" b="1" dirty="0">
                <a:solidFill>
                  <a:srgbClr val="002060"/>
                </a:solidFill>
              </a:rPr>
              <a:t> </a:t>
            </a:r>
            <a:r>
              <a:rPr lang="en-US" altLang="tr-TR" sz="6000" b="1" dirty="0" err="1">
                <a:solidFill>
                  <a:srgbClr val="002060"/>
                </a:solidFill>
              </a:rPr>
              <a:t>Müşteri</a:t>
            </a:r>
            <a:endParaRPr lang="tr-TR" altLang="tr-TR" sz="6000" b="1" dirty="0">
              <a:solidFill>
                <a:srgbClr val="002060"/>
              </a:solidFill>
            </a:endParaRPr>
          </a:p>
          <a:p>
            <a:pPr algn="ctr" eaLnBrk="1" hangingPunct="1">
              <a:lnSpc>
                <a:spcPts val="6400"/>
              </a:lnSpc>
              <a:spcBef>
                <a:spcPct val="0"/>
              </a:spcBef>
              <a:buFontTx/>
              <a:buNone/>
            </a:pPr>
            <a:r>
              <a:rPr lang="en-US" altLang="tr-TR" sz="6000" b="1" dirty="0" err="1">
                <a:solidFill>
                  <a:srgbClr val="002060"/>
                </a:solidFill>
              </a:rPr>
              <a:t>Davranış</a:t>
            </a:r>
            <a:r>
              <a:rPr lang="en-US" altLang="tr-TR" sz="6000" b="1" dirty="0">
                <a:solidFill>
                  <a:srgbClr val="002060"/>
                </a:solidFill>
              </a:rPr>
              <a:t> </a:t>
            </a:r>
            <a:r>
              <a:rPr lang="en-US" altLang="tr-TR" sz="6000" b="1" dirty="0" err="1">
                <a:solidFill>
                  <a:srgbClr val="002060"/>
                </a:solidFill>
              </a:rPr>
              <a:t>Tahmini</a:t>
            </a:r>
            <a:endParaRPr lang="en-US" altLang="tr-TR" sz="6000" dirty="0">
              <a:solidFill>
                <a:srgbClr val="002060"/>
              </a:solidFill>
            </a:endParaRPr>
          </a:p>
        </p:txBody>
      </p:sp>
      <p:sp>
        <p:nvSpPr>
          <p:cNvPr id="14339" name="TextBox 22">
            <a:extLst>
              <a:ext uri="{FF2B5EF4-FFF2-40B4-BE49-F238E27FC236}">
                <a16:creationId xmlns:a16="http://schemas.microsoft.com/office/drawing/2014/main" id="{642C85A2-3A69-55B2-2031-29D53C9976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663" y="3200400"/>
            <a:ext cx="20437475" cy="666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6184" tIns="33092" rIns="66184" bIns="33092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3900" dirty="0">
                <a:solidFill>
                  <a:srgbClr val="002060"/>
                </a:solidFill>
              </a:rPr>
              <a:t>Enes Kuzu 22253023, Mahmut Muzaffer Şahin 22253513 -- Mentor: </a:t>
            </a:r>
            <a:r>
              <a:rPr lang="tr-TR" altLang="tr-TR" sz="3900" dirty="0" err="1">
                <a:solidFill>
                  <a:srgbClr val="002060"/>
                </a:solidFill>
              </a:rPr>
              <a:t>Assoc.Prof.Dr</a:t>
            </a:r>
            <a:r>
              <a:rPr lang="tr-TR" altLang="tr-TR" sz="3900" dirty="0">
                <a:solidFill>
                  <a:srgbClr val="002060"/>
                </a:solidFill>
              </a:rPr>
              <a:t>. Emre Çomak</a:t>
            </a:r>
            <a:endParaRPr lang="en-US" altLang="tr-TR" sz="3900" dirty="0">
              <a:solidFill>
                <a:srgbClr val="002060"/>
              </a:solidFill>
            </a:endParaRPr>
          </a:p>
        </p:txBody>
      </p:sp>
      <p:graphicFrame>
        <p:nvGraphicFramePr>
          <p:cNvPr id="25" name="Table 24">
            <a:extLst>
              <a:ext uri="{FF2B5EF4-FFF2-40B4-BE49-F238E27FC236}">
                <a16:creationId xmlns:a16="http://schemas.microsoft.com/office/drawing/2014/main" id="{98319B72-36E9-CA43-BE4F-CEA6860812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04355660"/>
              </p:ext>
            </p:extLst>
          </p:nvPr>
        </p:nvGraphicFramePr>
        <p:xfrm>
          <a:off x="603250" y="4241799"/>
          <a:ext cx="9359900" cy="694691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888836">
                <a:tc>
                  <a:txBody>
                    <a:bodyPr/>
                    <a:lstStyle/>
                    <a:p>
                      <a:pPr algn="ctr"/>
                      <a:r>
                        <a:rPr lang="tr-TR" sz="4900" dirty="0"/>
                        <a:t>Tezin Amacı</a:t>
                      </a:r>
                      <a:endParaRPr lang="en-US" sz="4900" dirty="0"/>
                    </a:p>
                  </a:txBody>
                  <a:tcPr marL="50920" marR="50920" marT="42001" marB="42001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51154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 çalışmanın amacı, müşteri satış ve etkileşim verilerini analiz ederek web tabanlı bir müşteri segmentasyonu ve karar destek sistemi geliştirmektir.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Sistem, RFM/PRM metriklerini kullanarak müşteri davranışlarını sayısal hale getirmekte ve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 ile müşterileri farklı segmentlere ayırmaktadır. Üyelik derecelerine dayalı bu yaklaşım, müşterilerin davranışlarını daha esnek ve gerçekçi biçimde değerlendirmeyi sağlar.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Geliştirilen uygulama; CSV veri yükleme, sütun eşleştirme, optimal küme seçimi, 2D/3D görselleştirme ve segment bazlı aksiyon önerileri ile pazarlama süreçlerinde veri odaklı karar almayı desteklemektedir.</a:t>
                      </a:r>
                    </a:p>
                    <a:p>
                      <a:br>
                        <a:rPr lang="tr-TR" sz="2800" dirty="0"/>
                      </a:br>
                      <a:endParaRPr lang="en-US" sz="2800" dirty="0"/>
                    </a:p>
                  </a:txBody>
                  <a:tcPr marL="50920" marR="50920" marT="42001" marB="4200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3ECDF526-DDBF-5341-B5C5-0363CB03AD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918955"/>
              </p:ext>
            </p:extLst>
          </p:nvPr>
        </p:nvGraphicFramePr>
        <p:xfrm>
          <a:off x="620712" y="11467802"/>
          <a:ext cx="9359900" cy="7315596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69742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Materyal &amp; Yöntem</a:t>
                      </a:r>
                      <a:endParaRPr lang="en-US" sz="4900" dirty="0"/>
                    </a:p>
                  </a:txBody>
                  <a:tcPr marL="50920" marR="50920" marT="42009" marB="42009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8385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CSV satış verileri kullanılmış; müşteri ID, işlem tarihi, miktar ve fiyat/tutar alanları analiz edilmiştir.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Veri ön işleme aşamasında eksik/hatalı değerler düzenlenmiş ve müşteri bazında RFM ya da PRM metrikleri hesaplanmıştır.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Metrikler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StandardScaler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ile normalize edilerek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algoritmasına aktarılmıştır.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Optimal küme sayısı FPC,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Partition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Entropy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ve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Xie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-Beni indekslerinden oluşturulan hibrit skor ile belirlenmiştir.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 müşteri için üyelik derecesi, final skor, segment etiketi ve aksiyon önerileri üretilmiştir.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Sonuçlar 2D/3D grafikler ve tablo çıktılarıyla görselleştirilmiştir.</a:t>
                      </a:r>
                    </a:p>
                    <a:p>
                      <a:br>
                        <a:rPr lang="tr-TR" sz="2800" dirty="0"/>
                      </a:br>
                      <a:endParaRPr lang="tr-TR" sz="2800" b="1" dirty="0">
                        <a:solidFill>
                          <a:srgbClr val="000000"/>
                        </a:solidFill>
                        <a:latin typeface="+mn-lt"/>
                        <a:ea typeface="Calibri"/>
                        <a:cs typeface="Calibri"/>
                      </a:endParaRPr>
                    </a:p>
                  </a:txBody>
                  <a:tcPr marL="50920" marR="50920" marT="42009" marB="420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07C4B2F1-619E-2B42-BEEA-ECD286C027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6934583"/>
              </p:ext>
            </p:extLst>
          </p:nvPr>
        </p:nvGraphicFramePr>
        <p:xfrm>
          <a:off x="11172825" y="13284606"/>
          <a:ext cx="9359900" cy="841286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46252">
                <a:tc>
                  <a:txBody>
                    <a:bodyPr/>
                    <a:lstStyle/>
                    <a:p>
                      <a:pPr algn="ctr"/>
                      <a:r>
                        <a:rPr lang="tr-TR" sz="5800" b="1" i="0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Uygulama Özellikleri ve Ek Bilgiler</a:t>
                      </a:r>
                      <a:endParaRPr lang="en-US" sz="4900" dirty="0"/>
                    </a:p>
                  </a:txBody>
                  <a:tcPr marL="50924" marR="50924" marT="42007" marB="42007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186873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Web tabanlı yapı sayesinde kullanıcılar kod yazmadan analiz yapabilir.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CSV/TXT/TSV veri yükleme ve sütun eşleştirme özellikleri sunulmuştur.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Her müşteri için segment etiketi, üyelik derecesi, final skor ve öneri listesi üretilmiştir.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Sonuçlar interaktif grafiklerle gösterilmiş ve CSV formatında dışa aktarılabilir hale getirilmiştir.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Sistem, RFM ve PRM veri yapılarına uyarlanabilir şekilde geliştirilmiştir.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Kaynak kodlar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GitHub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üzerinde sürüm kontrollü olarak yönetilmiştir.</a:t>
                      </a:r>
                    </a:p>
                    <a:p>
                      <a:br>
                        <a:rPr lang="tr-TR" sz="2800" dirty="0"/>
                      </a:br>
                      <a:endParaRPr lang="tr-TR" sz="2800" baseline="0" dirty="0"/>
                    </a:p>
                    <a:p>
                      <a:pPr algn="just"/>
                      <a:endParaRPr lang="en-US" sz="3300" dirty="0"/>
                    </a:p>
                  </a:txBody>
                  <a:tcPr marL="50924" marR="50924" marT="42007" marB="4200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4364" name="TextBox 23">
            <a:extLst>
              <a:ext uri="{FF2B5EF4-FFF2-40B4-BE49-F238E27FC236}">
                <a16:creationId xmlns:a16="http://schemas.microsoft.com/office/drawing/2014/main" id="{2D75DA5B-C76E-A091-42BD-170450201BE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02288" y="261938"/>
            <a:ext cx="10182225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tr-TR" altLang="tr-TR" sz="7200" b="1">
                <a:solidFill>
                  <a:srgbClr val="002060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</a:rPr>
              <a:t>Pamukkale Üniversitesi</a:t>
            </a:r>
            <a:endParaRPr lang="en-US" altLang="tr-TR" sz="7200" b="1">
              <a:solidFill>
                <a:srgbClr val="002060"/>
              </a:solidFill>
              <a:latin typeface="Arial Unicode MS" panose="020B0604020202020204" pitchFamily="34" charset="-128"/>
              <a:ea typeface="Arial Unicode MS" panose="020B0604020202020204" pitchFamily="34" charset="-128"/>
            </a:endParaRPr>
          </a:p>
        </p:txBody>
      </p:sp>
      <p:sp>
        <p:nvSpPr>
          <p:cNvPr id="14365" name="TextBox 23">
            <a:extLst>
              <a:ext uri="{FF2B5EF4-FFF2-40B4-BE49-F238E27FC236}">
                <a16:creationId xmlns:a16="http://schemas.microsoft.com/office/drawing/2014/main" id="{AEA6690C-52D2-561C-78AB-AAA8686513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865600" y="0"/>
            <a:ext cx="4521200" cy="8620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104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90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77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defTabSz="2947988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64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tr-TR" altLang="tr-TR" sz="5000" b="1" dirty="0" err="1">
                <a:latin typeface="Arial" panose="020B0604020202020204" pitchFamily="34" charset="0"/>
                <a:ea typeface="Arial Unicode MS" panose="020B0604020202020204" pitchFamily="34" charset="-128"/>
              </a:rPr>
              <a:t>TezNo</a:t>
            </a:r>
            <a:r>
              <a:rPr lang="tr-TR" altLang="tr-TR" sz="5000" b="1" dirty="0">
                <a:latin typeface="Arial" panose="020B0604020202020204" pitchFamily="34" charset="0"/>
                <a:ea typeface="Arial Unicode MS" panose="020B0604020202020204" pitchFamily="34" charset="-128"/>
              </a:rPr>
              <a:t>: YZ - 1</a:t>
            </a:r>
            <a:endParaRPr lang="en-US" altLang="tr-TR" sz="5000" b="1" dirty="0">
              <a:latin typeface="Arial" panose="020B0604020202020204" pitchFamily="34" charset="0"/>
              <a:ea typeface="Arial Unicode MS" panose="020B0604020202020204" pitchFamily="34" charset="-128"/>
            </a:endParaRPr>
          </a:p>
        </p:txBody>
      </p:sp>
      <p:pic>
        <p:nvPicPr>
          <p:cNvPr id="14370" name="Picture 45">
            <a:extLst>
              <a:ext uri="{FF2B5EF4-FFF2-40B4-BE49-F238E27FC236}">
                <a16:creationId xmlns:a16="http://schemas.microsoft.com/office/drawing/2014/main" id="{125EAA8F-1222-BBE3-1283-9B6406B2A5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275" y="176213"/>
            <a:ext cx="2143125" cy="2143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24" name="Table 25">
            <a:extLst>
              <a:ext uri="{FF2B5EF4-FFF2-40B4-BE49-F238E27FC236}">
                <a16:creationId xmlns:a16="http://schemas.microsoft.com/office/drawing/2014/main" id="{081196BB-005A-EC45-AAE3-5CFAE68B40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519634"/>
              </p:ext>
            </p:extLst>
          </p:nvPr>
        </p:nvGraphicFramePr>
        <p:xfrm>
          <a:off x="561074" y="18920154"/>
          <a:ext cx="9377362" cy="10938927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7736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925977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Tez Çıktıları</a:t>
                      </a:r>
                      <a:endParaRPr lang="en-US" sz="4900" dirty="0"/>
                    </a:p>
                  </a:txBody>
                  <a:tcPr marL="50920" marR="50920" marT="42009" marB="42009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12950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Geliştirilen sistem, kullanıcıların satış verilerini yükleyerek teknik kod bilgisi gerektirmeden müşteri segmentasyonu yapabilmesini sağlamaktadır.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Sistem çıktıları arasında müşteri kümeleri, üyelik dereceleri, RFM/PRM  metrikleri, korelasyon grafikleri, 2D/3D dağılım grafikleri ve segment bazlı aksiyon önerileri yer almaktadır.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 çıktılar sayesinde işletmeler; sadık müşterileri, yeni müşterileri, potansiyel sadık müşterileri, kaybedilme riski olan müşterileri ve düşük değerli müşteri gruplarını kolaylıkla analiz edebilmektedir.</a:t>
                      </a:r>
                    </a:p>
                    <a:p>
                      <a:pPr lvl="0"/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endParaRPr lang="en-US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lvl="0"/>
                      <a:endParaRPr lang="en-US" sz="26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920" marR="50920" marT="42009" marB="4200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7" name="Table 25">
            <a:extLst>
              <a:ext uri="{FF2B5EF4-FFF2-40B4-BE49-F238E27FC236}">
                <a16:creationId xmlns:a16="http://schemas.microsoft.com/office/drawing/2014/main" id="{1E2EE081-C2A3-DB4E-89F3-8C41CEB92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3039916"/>
              </p:ext>
            </p:extLst>
          </p:nvPr>
        </p:nvGraphicFramePr>
        <p:xfrm>
          <a:off x="11172825" y="4241799"/>
          <a:ext cx="9359900" cy="8212932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935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565512">
                <a:tc>
                  <a:txBody>
                    <a:bodyPr/>
                    <a:lstStyle/>
                    <a:p>
                      <a:pPr marL="0" marR="0" indent="0" algn="ctr" defTabSz="406891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r-TR" sz="4900" b="1" kern="1200" dirty="0">
                          <a:solidFill>
                            <a:schemeClr val="bg1"/>
                          </a:solidFill>
                          <a:latin typeface="+mn-lt"/>
                          <a:ea typeface="+mn-ea"/>
                          <a:cs typeface="+mn-cs"/>
                        </a:rPr>
                        <a:t>Sonuçlar ve Genel Değerlendirme</a:t>
                      </a:r>
                      <a:endParaRPr lang="en-US" sz="4900" dirty="0"/>
                    </a:p>
                  </a:txBody>
                  <a:tcPr marL="50920" marR="50920" marT="42005" marB="42005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47420">
                <a:tc>
                  <a:txBody>
                    <a:bodyPr/>
                    <a:lstStyle/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Proje sonucunda, CSV formatındaki müşteri verilerini analiz ederek RFM/PRM metrikleri üzerinden segmentasyon yapabilen interaktif bir web tabanlı karar destek sistemi geliştirilmiştir. Sistem, 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Fuzzy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C-</a:t>
                      </a:r>
                      <a:r>
                        <a:rPr lang="tr-TR" sz="2800" b="0" i="0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Means</a:t>
                      </a:r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algoritması ile müşterilerin farklı segmentlere olan üyelik derecelerini hesaplamakta ve klasik kesin kümeleme yöntemlerine göre daha esnek bir değerlendirme sunmaktadır.</a:t>
                      </a:r>
                    </a:p>
                    <a:p>
                      <a:r>
                        <a:rPr lang="tr-TR" sz="2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Uygulama; optimal küme sayısını belirleme, 2D/3D görselleştirme, segment dağılımı, küme merkezleri, model güveni ve müşteri bazlı öneri çıktıları gibi sonuçları kullanıcıya sunmaktadır. Elde edilen segmentler sayesinde işletmeler; sadık müşteriler, riskli müşteriler, yeni müşteriler ve yüksek potansiyelli müşteri grupları için daha hedefli pazarlama stratejileri geliştirebilmektedir.</a:t>
                      </a: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60"/>
                        </a:spcAft>
                        <a:buNone/>
                      </a:pPr>
                      <a:endParaRPr lang="en-US" sz="28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50920" marR="50920" marT="42005" marB="4200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4" name="Resim 3">
            <a:extLst>
              <a:ext uri="{FF2B5EF4-FFF2-40B4-BE49-F238E27FC236}">
                <a16:creationId xmlns:a16="http://schemas.microsoft.com/office/drawing/2014/main" id="{A73E8227-F3DE-7522-2EF2-8A1B1D16AC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074" y="24420480"/>
            <a:ext cx="4522944" cy="5438601"/>
          </a:xfrm>
          <a:prstGeom prst="rect">
            <a:avLst/>
          </a:prstGeom>
        </p:spPr>
      </p:pic>
      <p:pic>
        <p:nvPicPr>
          <p:cNvPr id="6" name="Resim 5">
            <a:extLst>
              <a:ext uri="{FF2B5EF4-FFF2-40B4-BE49-F238E27FC236}">
                <a16:creationId xmlns:a16="http://schemas.microsoft.com/office/drawing/2014/main" id="{DD5224A1-C827-9497-AAD5-53E2B40BF0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7217" y="24412226"/>
            <a:ext cx="4671219" cy="54468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3864</TotalTime>
  <Words>486</Words>
  <Application>Microsoft Macintosh PowerPoint</Application>
  <PresentationFormat>Özel</PresentationFormat>
  <Paragraphs>35</Paragraphs>
  <Slides>1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5" baseType="lpstr">
      <vt:lpstr>Arial Unicode MS</vt:lpstr>
      <vt:lpstr>Arial</vt:lpstr>
      <vt:lpstr>Calibri</vt:lpstr>
      <vt:lpstr>Office Theme</vt:lpstr>
      <vt:lpstr>PowerPoint Sunusu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Template</dc:title>
  <dc:creator>Template.org</dc:creator>
  <cp:keywords>scientific poster template</cp:keywords>
  <cp:lastModifiedBy>ENES KUZU</cp:lastModifiedBy>
  <cp:revision>43</cp:revision>
  <cp:lastPrinted>2022-05-08T14:29:22Z</cp:lastPrinted>
  <dcterms:created xsi:type="dcterms:W3CDTF">2012-02-02T05:39:18Z</dcterms:created>
  <dcterms:modified xsi:type="dcterms:W3CDTF">2026-05-14T12:50:24Z</dcterms:modified>
</cp:coreProperties>
</file>